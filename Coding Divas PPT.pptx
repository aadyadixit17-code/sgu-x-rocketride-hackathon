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0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B0F030"/>
    <a:srgbClr val="B4E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6" d="100"/>
          <a:sy n="96" d="100"/>
        </p:scale>
        <p:origin x="-416" y="2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sengarhemlata5@gmail.com" TargetMode="External"/><Relationship Id="rId2" Type="http://schemas.openxmlformats.org/officeDocument/2006/relationships/hyperlink" Target="mailto:aadyadixit17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SnKgiu5cUtlZSPIOw0iM5paNZ7tB_5Pi/view?usp=drivesdk" TargetMode="External"/><Relationship Id="rId5" Type="http://schemas.openxmlformats.org/officeDocument/2006/relationships/hyperlink" Target="https://github.com/aadyadixit17-code/DeepFake-Digital-Media-Authenticity-Verification" TargetMode="External"/><Relationship Id="rId4" Type="http://schemas.openxmlformats.org/officeDocument/2006/relationships/hyperlink" Target="https://drive.google.com/file/d/1nSnvlPRMiSRlkxZHVSOFoifYg4Jv3yrp/view?usp=drivesd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4350"/>
            <a:ext cx="7772400" cy="492443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 </a:t>
            </a:r>
            <a:r>
              <a:rPr lang="en-US" sz="3600" dirty="0" smtClean="0">
                <a:solidFill>
                  <a:srgbClr val="7030A0"/>
                </a:solidFill>
                <a:latin typeface="Algerian" pitchFamily="82" charset="0"/>
              </a:rPr>
              <a:t>SGU X ROCKET RIDE HACKATHON </a:t>
            </a:r>
            <a:endParaRPr lang="en-IN" sz="3600" dirty="0">
              <a:solidFill>
                <a:srgbClr val="7030A0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504950"/>
            <a:ext cx="6400800" cy="1869743"/>
          </a:xfrm>
        </p:spPr>
        <p:txBody>
          <a:bodyPr>
            <a:normAutofit fontScale="32500" lnSpcReduction="20000"/>
          </a:bodyPr>
          <a:lstStyle/>
          <a:p>
            <a:pPr algn="l" rtl="0"/>
            <a:r>
              <a:rPr lang="en-US" sz="5500" b="1" u="sng" dirty="0" smtClean="0">
                <a:solidFill>
                  <a:srgbClr val="00B050"/>
                </a:solidFill>
                <a:latin typeface="Modern No. 20" pitchFamily="18" charset="0"/>
              </a:rPr>
              <a:t>ROUND 1 PRESENTATION</a:t>
            </a:r>
            <a:endParaRPr lang="en-IN" sz="5500" b="1" u="sng" dirty="0" smtClean="0">
              <a:solidFill>
                <a:srgbClr val="00B050"/>
              </a:solidFill>
              <a:latin typeface="Modern No. 20" pitchFamily="18" charset="0"/>
            </a:endParaRPr>
          </a:p>
          <a:p>
            <a:pPr algn="l" rtl="0"/>
            <a:endParaRPr lang="en-IN" b="1" dirty="0">
              <a:solidFill>
                <a:schemeClr val="tx1"/>
              </a:solidFill>
            </a:endParaRPr>
          </a:p>
          <a:p>
            <a:pPr algn="l" rtl="0"/>
            <a:endParaRPr lang="en-IN" b="1" dirty="0" smtClean="0">
              <a:solidFill>
                <a:schemeClr val="tx1"/>
              </a:solidFill>
            </a:endParaRPr>
          </a:p>
          <a:p>
            <a:pPr algn="l" rtl="0"/>
            <a:r>
              <a:rPr lang="en-IN" sz="4900" b="1" dirty="0" smtClean="0">
                <a:solidFill>
                  <a:srgbClr val="FF0066"/>
                </a:solidFill>
                <a:latin typeface="Garamond" pitchFamily="18" charset="0"/>
              </a:rPr>
              <a:t>COLLEGE </a:t>
            </a:r>
            <a:r>
              <a:rPr lang="en-IN" sz="4900" b="1" dirty="0">
                <a:solidFill>
                  <a:srgbClr val="FF0066"/>
                </a:solidFill>
                <a:latin typeface="Garamond" pitchFamily="18" charset="0"/>
              </a:rPr>
              <a:t>NAME :  IMSEC / BBDIT</a:t>
            </a:r>
          </a:p>
          <a:p>
            <a:pPr algn="l" rtl="0"/>
            <a:r>
              <a:rPr lang="en-IN" sz="4900" b="1" dirty="0">
                <a:solidFill>
                  <a:srgbClr val="FF0066"/>
                </a:solidFill>
                <a:latin typeface="Garamond" pitchFamily="18" charset="0"/>
              </a:rPr>
              <a:t>Team name : CODING DIVAS</a:t>
            </a:r>
          </a:p>
          <a:p>
            <a:pPr algn="l" rtl="0"/>
            <a:r>
              <a:rPr lang="en-IN" sz="4900" b="1" dirty="0">
                <a:solidFill>
                  <a:srgbClr val="FF0066"/>
                </a:solidFill>
                <a:latin typeface="Garamond" pitchFamily="18" charset="0"/>
              </a:rPr>
              <a:t>Team leader : </a:t>
            </a:r>
            <a:r>
              <a:rPr lang="en-IN" sz="4900" b="1" dirty="0" err="1">
                <a:solidFill>
                  <a:srgbClr val="FF0066"/>
                </a:solidFill>
                <a:latin typeface="Garamond" pitchFamily="18" charset="0"/>
              </a:rPr>
              <a:t>Aadya</a:t>
            </a:r>
            <a:r>
              <a:rPr lang="en-IN" sz="4900" b="1" dirty="0">
                <a:solidFill>
                  <a:srgbClr val="FF0066"/>
                </a:solidFill>
                <a:latin typeface="Garamond" pitchFamily="18" charset="0"/>
              </a:rPr>
              <a:t> </a:t>
            </a:r>
            <a:r>
              <a:rPr lang="en-IN" sz="4900" b="1" dirty="0" smtClean="0">
                <a:solidFill>
                  <a:srgbClr val="FF0066"/>
                </a:solidFill>
                <a:latin typeface="Garamond" pitchFamily="18" charset="0"/>
              </a:rPr>
              <a:t>Dixit</a:t>
            </a:r>
          </a:p>
          <a:p>
            <a:pPr algn="l" rtl="0"/>
            <a:r>
              <a:rPr lang="en-US" sz="4900" b="1" dirty="0" smtClean="0">
                <a:solidFill>
                  <a:srgbClr val="FF0066"/>
                </a:solidFill>
                <a:latin typeface="Garamond" pitchFamily="18" charset="0"/>
              </a:rPr>
              <a:t>Team Member: </a:t>
            </a:r>
            <a:r>
              <a:rPr lang="en-US" sz="4900" b="1" dirty="0" err="1" smtClean="0">
                <a:solidFill>
                  <a:srgbClr val="FF0066"/>
                </a:solidFill>
                <a:latin typeface="Garamond" pitchFamily="18" charset="0"/>
              </a:rPr>
              <a:t>Khushbu</a:t>
            </a:r>
            <a:endParaRPr lang="en-IN" sz="4900" b="1" dirty="0">
              <a:solidFill>
                <a:srgbClr val="FF0066"/>
              </a:solidFill>
              <a:latin typeface="Garamond" pitchFamily="18" charset="0"/>
            </a:endParaRPr>
          </a:p>
          <a:p>
            <a:pPr algn="l" rtl="0"/>
            <a:r>
              <a:rPr lang="en-IN" sz="4900" b="1" dirty="0">
                <a:solidFill>
                  <a:srgbClr val="FF0066"/>
                </a:solidFill>
                <a:latin typeface="Garamond" pitchFamily="18" charset="0"/>
              </a:rPr>
              <a:t>Problem Statement : </a:t>
            </a:r>
            <a:r>
              <a:rPr lang="en-IN" sz="4900" b="1" dirty="0" err="1">
                <a:solidFill>
                  <a:srgbClr val="FF0066"/>
                </a:solidFill>
                <a:latin typeface="Garamond" pitchFamily="18" charset="0"/>
              </a:rPr>
              <a:t>Deepfake</a:t>
            </a:r>
            <a:r>
              <a:rPr lang="en-IN" sz="4900" b="1" dirty="0">
                <a:solidFill>
                  <a:srgbClr val="FF0066"/>
                </a:solidFill>
                <a:latin typeface="Garamond" pitchFamily="18" charset="0"/>
              </a:rPr>
              <a:t> &amp; Digital Media Authenticity Verification</a:t>
            </a:r>
          </a:p>
        </p:txBody>
      </p:sp>
    </p:spTree>
    <p:extLst>
      <p:ext uri="{BB962C8B-B14F-4D97-AF65-F5344CB8AC3E}">
        <p14:creationId xmlns:p14="http://schemas.microsoft.com/office/powerpoint/2010/main" val="110470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796" y="3329753"/>
            <a:ext cx="3219449" cy="147637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idx="1"/>
          </p:nvPr>
        </p:nvSpPr>
        <p:spPr>
          <a:xfrm>
            <a:off x="457933" y="1200150"/>
            <a:ext cx="8229600" cy="2123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5080" indent="0">
              <a:lnSpc>
                <a:spcPct val="115999"/>
              </a:lnSpc>
              <a:spcBef>
                <a:spcPts val="100"/>
              </a:spcBef>
              <a:buNone/>
            </a:pPr>
            <a:endParaRPr lang="en-US" sz="1400" spc="-10" dirty="0" smtClean="0">
              <a:solidFill>
                <a:schemeClr val="bg1"/>
              </a:solidFill>
            </a:endParaRPr>
          </a:p>
          <a:p>
            <a:pPr marL="0" marR="5080" indent="0">
              <a:lnSpc>
                <a:spcPct val="115999"/>
              </a:lnSpc>
              <a:spcBef>
                <a:spcPts val="100"/>
              </a:spcBef>
              <a:buNone/>
            </a:pPr>
            <a:r>
              <a:rPr sz="1400" spc="-10" dirty="0" smtClean="0">
                <a:solidFill>
                  <a:schemeClr val="bg1"/>
                </a:solidFill>
              </a:rPr>
              <a:t>Generative</a:t>
            </a:r>
            <a:r>
              <a:rPr sz="1400" spc="-45" dirty="0" smtClean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AI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has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made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it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difficult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to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distinguish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real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from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spc="-20" dirty="0">
                <a:solidFill>
                  <a:schemeClr val="bg1"/>
                </a:solidFill>
              </a:rPr>
              <a:t>AI-</a:t>
            </a:r>
            <a:r>
              <a:rPr sz="1400" spc="-10" dirty="0">
                <a:solidFill>
                  <a:schemeClr val="bg1"/>
                </a:solidFill>
              </a:rPr>
              <a:t>generated</a:t>
            </a:r>
            <a:r>
              <a:rPr sz="1400" spc="-45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images,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videos, </a:t>
            </a:r>
            <a:r>
              <a:rPr sz="1400" dirty="0">
                <a:solidFill>
                  <a:schemeClr val="bg1"/>
                </a:solidFill>
              </a:rPr>
              <a:t>and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lang="en-US" sz="1400" spc="-55" dirty="0" smtClean="0">
                <a:solidFill>
                  <a:schemeClr val="bg1"/>
                </a:solidFill>
              </a:rPr>
              <a:t>   </a:t>
            </a:r>
            <a:r>
              <a:rPr sz="1400" spc="-10" dirty="0" smtClean="0">
                <a:solidFill>
                  <a:schemeClr val="bg1"/>
                </a:solidFill>
              </a:rPr>
              <a:t>audio</a:t>
            </a:r>
            <a:r>
              <a:rPr sz="1400" spc="-10" dirty="0">
                <a:solidFill>
                  <a:schemeClr val="bg1"/>
                </a:solidFill>
              </a:rPr>
              <a:t>.</a:t>
            </a:r>
          </a:p>
          <a:p>
            <a:pPr marL="0" marR="24765" indent="0">
              <a:lnSpc>
                <a:spcPct val="115999"/>
              </a:lnSpc>
              <a:buNone/>
            </a:pPr>
            <a:r>
              <a:rPr sz="1400" spc="-10" dirty="0">
                <a:solidFill>
                  <a:schemeClr val="bg1"/>
                </a:solidFill>
              </a:rPr>
              <a:t>Deepfakes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are</a:t>
            </a:r>
            <a:r>
              <a:rPr sz="1400" spc="-50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increasingly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used</a:t>
            </a:r>
            <a:r>
              <a:rPr sz="1400" spc="-5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for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misinformation,</a:t>
            </a:r>
            <a:r>
              <a:rPr sz="1400" spc="-5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fraud,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identity</a:t>
            </a:r>
            <a:r>
              <a:rPr sz="1400" spc="-5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theft,</a:t>
            </a:r>
            <a:r>
              <a:rPr sz="1400" spc="-5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and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reputation damage.</a:t>
            </a:r>
          </a:p>
          <a:p>
            <a:pPr marL="0" indent="0">
              <a:lnSpc>
                <a:spcPct val="100000"/>
              </a:lnSpc>
              <a:spcBef>
                <a:spcPts val="275"/>
              </a:spcBef>
              <a:buNone/>
            </a:pPr>
            <a:r>
              <a:rPr sz="1400" dirty="0">
                <a:solidFill>
                  <a:schemeClr val="bg1"/>
                </a:solidFill>
              </a:rPr>
              <a:t>Existing</a:t>
            </a:r>
            <a:r>
              <a:rPr sz="1400" spc="-50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verification</a:t>
            </a:r>
            <a:r>
              <a:rPr sz="1400" spc="-50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methods</a:t>
            </a:r>
            <a:r>
              <a:rPr sz="1400" spc="-5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are</a:t>
            </a:r>
            <a:r>
              <a:rPr sz="1400" spc="-45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slow,</a:t>
            </a:r>
            <a:r>
              <a:rPr sz="1400" spc="-5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costly,</a:t>
            </a:r>
            <a:r>
              <a:rPr sz="1400" spc="-5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and</a:t>
            </a:r>
            <a:r>
              <a:rPr sz="1400" spc="-45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not</a:t>
            </a:r>
            <a:r>
              <a:rPr sz="1400" spc="-5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easily</a:t>
            </a:r>
            <a:r>
              <a:rPr sz="1400" spc="-50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accessible.</a:t>
            </a:r>
          </a:p>
          <a:p>
            <a:pPr marL="0" marR="259079" indent="0">
              <a:lnSpc>
                <a:spcPct val="115999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T</a:t>
            </a:r>
            <a:r>
              <a:rPr sz="1400" dirty="0" smtClean="0">
                <a:solidFill>
                  <a:schemeClr val="bg1"/>
                </a:solidFill>
              </a:rPr>
              <a:t>here</a:t>
            </a:r>
            <a:r>
              <a:rPr sz="1400" spc="-40" dirty="0" smtClean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is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a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need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for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an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spc="-20" dirty="0">
                <a:solidFill>
                  <a:schemeClr val="bg1"/>
                </a:solidFill>
              </a:rPr>
              <a:t>AI-</a:t>
            </a:r>
            <a:r>
              <a:rPr sz="1400" spc="-10" dirty="0">
                <a:solidFill>
                  <a:schemeClr val="bg1"/>
                </a:solidFill>
              </a:rPr>
              <a:t>powered,</a:t>
            </a:r>
            <a:r>
              <a:rPr sz="1400" spc="-35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scalable,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and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automated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platform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to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verify</a:t>
            </a:r>
            <a:r>
              <a:rPr sz="1400" spc="-40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digital </a:t>
            </a:r>
            <a:r>
              <a:rPr sz="1400" dirty="0">
                <a:solidFill>
                  <a:schemeClr val="bg1"/>
                </a:solidFill>
              </a:rPr>
              <a:t>media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authenticity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with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a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confidence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score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before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or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dirty="0">
                <a:solidFill>
                  <a:schemeClr val="bg1"/>
                </a:solidFill>
              </a:rPr>
              <a:t>after</a:t>
            </a:r>
            <a:r>
              <a:rPr sz="1400" spc="-55" dirty="0">
                <a:solidFill>
                  <a:schemeClr val="bg1"/>
                </a:solidFill>
              </a:rPr>
              <a:t> </a:t>
            </a:r>
            <a:r>
              <a:rPr sz="1400" spc="-10" dirty="0">
                <a:solidFill>
                  <a:schemeClr val="bg1"/>
                </a:solidFill>
              </a:rPr>
              <a:t>sharing.</a:t>
            </a: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31003" y="632020"/>
            <a:ext cx="803846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chemeClr val="bg1"/>
                </a:solidFill>
                <a:latin typeface="Algerian" pitchFamily="82" charset="0"/>
                <a:cs typeface="Arial MT"/>
              </a:rPr>
              <a:t>DeepFake</a:t>
            </a:r>
            <a:r>
              <a:rPr sz="2400" spc="-85" dirty="0">
                <a:solidFill>
                  <a:schemeClr val="bg1"/>
                </a:solidFill>
                <a:latin typeface="Algerian" pitchFamily="82" charset="0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lgerian" pitchFamily="82" charset="0"/>
                <a:cs typeface="Arial MT"/>
              </a:rPr>
              <a:t>&amp;</a:t>
            </a:r>
            <a:r>
              <a:rPr sz="2400" spc="-80" dirty="0">
                <a:solidFill>
                  <a:schemeClr val="bg1"/>
                </a:solidFill>
                <a:latin typeface="Algerian" pitchFamily="82" charset="0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lgerian" pitchFamily="82" charset="0"/>
                <a:cs typeface="Arial MT"/>
              </a:rPr>
              <a:t>Digital</a:t>
            </a:r>
            <a:r>
              <a:rPr sz="2400" spc="-80" dirty="0">
                <a:solidFill>
                  <a:schemeClr val="bg1"/>
                </a:solidFill>
                <a:latin typeface="Algerian" pitchFamily="82" charset="0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lgerian" pitchFamily="82" charset="0"/>
                <a:cs typeface="Arial MT"/>
              </a:rPr>
              <a:t>Media</a:t>
            </a:r>
            <a:r>
              <a:rPr sz="2400" spc="-80" dirty="0">
                <a:solidFill>
                  <a:schemeClr val="bg1"/>
                </a:solidFill>
                <a:latin typeface="Algerian" pitchFamily="82" charset="0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lgerian" pitchFamily="82" charset="0"/>
                <a:cs typeface="Arial MT"/>
              </a:rPr>
              <a:t>Authenticity</a:t>
            </a:r>
            <a:r>
              <a:rPr sz="2400" spc="-85" dirty="0">
                <a:solidFill>
                  <a:schemeClr val="bg1"/>
                </a:solidFill>
                <a:latin typeface="Algerian" pitchFamily="82" charset="0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lgerian" pitchFamily="82" charset="0"/>
                <a:cs typeface="Arial MT"/>
              </a:rPr>
              <a:t>Verification</a:t>
            </a:r>
            <a:r>
              <a:rPr sz="2400" spc="-80" dirty="0">
                <a:solidFill>
                  <a:schemeClr val="bg1"/>
                </a:solidFill>
                <a:latin typeface="Algerian" pitchFamily="82" charset="0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lgerian" pitchFamily="82" charset="0"/>
                <a:cs typeface="Arial MT"/>
              </a:rPr>
              <a:t>Platform</a:t>
            </a:r>
            <a:endParaRPr sz="2400" dirty="0">
              <a:solidFill>
                <a:schemeClr val="bg1"/>
              </a:solidFill>
              <a:latin typeface="Algerian" pitchFamily="82" charset="0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6998" y="1492626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31097" y="54912"/>
                </a:moveTo>
                <a:lnTo>
                  <a:pt x="23815" y="54912"/>
                </a:lnTo>
                <a:lnTo>
                  <a:pt x="20312" y="54215"/>
                </a:lnTo>
                <a:lnTo>
                  <a:pt x="0" y="31097"/>
                </a:lnTo>
                <a:lnTo>
                  <a:pt x="0" y="23815"/>
                </a:lnTo>
                <a:lnTo>
                  <a:pt x="23815" y="0"/>
                </a:lnTo>
                <a:lnTo>
                  <a:pt x="31097" y="0"/>
                </a:lnTo>
                <a:lnTo>
                  <a:pt x="54912" y="27456"/>
                </a:lnTo>
                <a:lnTo>
                  <a:pt x="54912" y="31097"/>
                </a:lnTo>
                <a:lnTo>
                  <a:pt x="31097" y="54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6998" y="2005142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31097" y="54912"/>
                </a:moveTo>
                <a:lnTo>
                  <a:pt x="23815" y="54912"/>
                </a:lnTo>
                <a:lnTo>
                  <a:pt x="20312" y="54215"/>
                </a:lnTo>
                <a:lnTo>
                  <a:pt x="0" y="31097"/>
                </a:lnTo>
                <a:lnTo>
                  <a:pt x="0" y="23815"/>
                </a:lnTo>
                <a:lnTo>
                  <a:pt x="23815" y="0"/>
                </a:lnTo>
                <a:lnTo>
                  <a:pt x="31097" y="0"/>
                </a:lnTo>
                <a:lnTo>
                  <a:pt x="54912" y="27456"/>
                </a:lnTo>
                <a:lnTo>
                  <a:pt x="54912" y="31097"/>
                </a:lnTo>
                <a:lnTo>
                  <a:pt x="31097" y="54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6998" y="251765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31097" y="54912"/>
                </a:moveTo>
                <a:lnTo>
                  <a:pt x="23815" y="54912"/>
                </a:lnTo>
                <a:lnTo>
                  <a:pt x="20312" y="54215"/>
                </a:lnTo>
                <a:lnTo>
                  <a:pt x="0" y="31097"/>
                </a:lnTo>
                <a:lnTo>
                  <a:pt x="0" y="23815"/>
                </a:lnTo>
                <a:lnTo>
                  <a:pt x="23815" y="0"/>
                </a:lnTo>
                <a:lnTo>
                  <a:pt x="31097" y="0"/>
                </a:lnTo>
                <a:lnTo>
                  <a:pt x="54912" y="27456"/>
                </a:lnTo>
                <a:lnTo>
                  <a:pt x="54912" y="31097"/>
                </a:lnTo>
                <a:lnTo>
                  <a:pt x="31097" y="54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6998" y="2773916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31097" y="54912"/>
                </a:moveTo>
                <a:lnTo>
                  <a:pt x="23815" y="54912"/>
                </a:lnTo>
                <a:lnTo>
                  <a:pt x="20312" y="54215"/>
                </a:lnTo>
                <a:lnTo>
                  <a:pt x="0" y="31097"/>
                </a:lnTo>
                <a:lnTo>
                  <a:pt x="0" y="23815"/>
                </a:lnTo>
                <a:lnTo>
                  <a:pt x="23815" y="0"/>
                </a:lnTo>
                <a:lnTo>
                  <a:pt x="31097" y="0"/>
                </a:lnTo>
                <a:lnTo>
                  <a:pt x="54912" y="27456"/>
                </a:lnTo>
                <a:lnTo>
                  <a:pt x="54912" y="31097"/>
                </a:lnTo>
                <a:lnTo>
                  <a:pt x="31097" y="54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8039" y="2886134"/>
            <a:ext cx="5067299" cy="16763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341" y="775989"/>
            <a:ext cx="5616575" cy="18923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501650" indent="-488950">
              <a:lnSpc>
                <a:spcPct val="100000"/>
              </a:lnSpc>
              <a:spcBef>
                <a:spcPts val="400"/>
              </a:spcBef>
              <a:buFont typeface="Arial MT"/>
              <a:buChar char="●"/>
              <a:tabLst>
                <a:tab pos="501650" algn="l"/>
              </a:tabLst>
            </a:pP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1.</a:t>
            </a:r>
            <a:r>
              <a:rPr sz="1500" spc="-2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solution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powered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multimedia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verification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endParaRPr sz="1500">
              <a:latin typeface="Arial MT"/>
              <a:cs typeface="Arial MT"/>
            </a:endParaRPr>
          </a:p>
          <a:p>
            <a:pPr marL="678180" lvl="1" indent="-176530">
              <a:lnSpc>
                <a:spcPct val="100000"/>
              </a:lnSpc>
              <a:spcBef>
                <a:spcPts val="300"/>
              </a:spcBef>
              <a:buAutoNum type="arabicPeriod" startAt="2"/>
              <a:tabLst>
                <a:tab pos="678180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Detects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generated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images,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videos,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audio</a:t>
            </a:r>
            <a:endParaRPr sz="1500">
              <a:latin typeface="Arial MT"/>
              <a:cs typeface="Arial MT"/>
            </a:endParaRPr>
          </a:p>
          <a:p>
            <a:pPr marL="678180" lvl="1" indent="-176530">
              <a:lnSpc>
                <a:spcPct val="100000"/>
              </a:lnSpc>
              <a:spcBef>
                <a:spcPts val="300"/>
              </a:spcBef>
              <a:buAutoNum type="arabicPeriod" startAt="2"/>
              <a:tabLst>
                <a:tab pos="678180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Performs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metadata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digital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forensic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1500">
              <a:latin typeface="Arial MT"/>
              <a:cs typeface="Arial MT"/>
            </a:endParaRPr>
          </a:p>
          <a:p>
            <a:pPr marL="678180" lvl="1" indent="-176530">
              <a:lnSpc>
                <a:spcPct val="100000"/>
              </a:lnSpc>
              <a:spcBef>
                <a:spcPts val="300"/>
              </a:spcBef>
              <a:buAutoNum type="arabicPeriod" startAt="2"/>
              <a:tabLst>
                <a:tab pos="678180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Identifies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editing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artifacts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visual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inconsistencies</a:t>
            </a:r>
            <a:endParaRPr sz="1500">
              <a:latin typeface="Arial MT"/>
              <a:cs typeface="Arial MT"/>
            </a:endParaRPr>
          </a:p>
          <a:p>
            <a:pPr marL="678180" lvl="1" indent="-176530">
              <a:lnSpc>
                <a:spcPct val="100000"/>
              </a:lnSpc>
              <a:spcBef>
                <a:spcPts val="300"/>
              </a:spcBef>
              <a:buAutoNum type="arabicPeriod" startAt="2"/>
              <a:tabLst>
                <a:tab pos="678180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Generates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authenticity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confidence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score</a:t>
            </a:r>
            <a:endParaRPr sz="1500">
              <a:latin typeface="Arial MT"/>
              <a:cs typeface="Arial MT"/>
            </a:endParaRPr>
          </a:p>
          <a:p>
            <a:pPr marL="678180" lvl="1" indent="-176530">
              <a:lnSpc>
                <a:spcPct val="100000"/>
              </a:lnSpc>
              <a:spcBef>
                <a:spcPts val="300"/>
              </a:spcBef>
              <a:buAutoNum type="arabicPeriod" startAt="2"/>
              <a:tabLst>
                <a:tab pos="678180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Provides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Explainable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(XAI)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verification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reports</a:t>
            </a:r>
            <a:endParaRPr sz="1500">
              <a:latin typeface="Arial MT"/>
              <a:cs typeface="Arial MT"/>
            </a:endParaRPr>
          </a:p>
          <a:p>
            <a:pPr marL="678180" lvl="1" indent="-176530">
              <a:lnSpc>
                <a:spcPct val="100000"/>
              </a:lnSpc>
              <a:spcBef>
                <a:spcPts val="300"/>
              </a:spcBef>
              <a:buAutoNum type="arabicPeriod" startAt="2"/>
              <a:tabLst>
                <a:tab pos="678180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Supports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pre-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sharing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post-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sharing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content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verification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2004" y="734253"/>
            <a:ext cx="2600324" cy="3895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341" y="814089"/>
            <a:ext cx="1409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650" dirty="0">
                <a:latin typeface="Arial MT"/>
                <a:cs typeface="Arial MT"/>
              </a:rPr>
              <a:t>●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04800" y="1962150"/>
            <a:ext cx="228600" cy="64569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spc="-10" dirty="0" smtClean="0"/>
              <a:t> 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5205073" y="786930"/>
            <a:ext cx="3384550" cy="38982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dirty="0">
                <a:solidFill>
                  <a:srgbClr val="CCF611"/>
                </a:solidFill>
                <a:latin typeface="Arial"/>
                <a:cs typeface="Arial"/>
              </a:rPr>
              <a:t>Process</a:t>
            </a:r>
            <a:r>
              <a:rPr sz="2050" b="1" spc="20" dirty="0">
                <a:solidFill>
                  <a:srgbClr val="CCF611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srgbClr val="CCF611"/>
                </a:solidFill>
                <a:latin typeface="Arial"/>
                <a:cs typeface="Arial"/>
              </a:rPr>
              <a:t>of</a:t>
            </a:r>
            <a:r>
              <a:rPr sz="2050" b="1" spc="30" dirty="0">
                <a:solidFill>
                  <a:srgbClr val="CCF611"/>
                </a:solidFill>
                <a:latin typeface="Arial"/>
                <a:cs typeface="Arial"/>
              </a:rPr>
              <a:t> </a:t>
            </a:r>
            <a:r>
              <a:rPr sz="2050" b="1" spc="-10" dirty="0">
                <a:solidFill>
                  <a:srgbClr val="CCF611"/>
                </a:solidFill>
                <a:latin typeface="Arial"/>
                <a:cs typeface="Arial"/>
              </a:rPr>
              <a:t>implementation</a:t>
            </a:r>
            <a:endParaRPr sz="2050">
              <a:latin typeface="Arial"/>
              <a:cs typeface="Arial"/>
            </a:endParaRPr>
          </a:p>
          <a:p>
            <a:pPr marL="106045" algn="ctr">
              <a:lnSpc>
                <a:spcPct val="100000"/>
              </a:lnSpc>
              <a:spcBef>
                <a:spcPts val="835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Step</a:t>
            </a:r>
            <a:r>
              <a:rPr sz="10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  <a:p>
            <a:pPr marL="106045" algn="ctr">
              <a:lnSpc>
                <a:spcPct val="100000"/>
              </a:lnSpc>
              <a:spcBef>
                <a:spcPts val="165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Collect</a:t>
            </a:r>
            <a:r>
              <a:rPr sz="10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authentic</a:t>
            </a:r>
            <a:r>
              <a:rPr sz="10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0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manipulated</a:t>
            </a:r>
            <a:r>
              <a:rPr sz="10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datasets</a:t>
            </a:r>
            <a:endParaRPr sz="1000">
              <a:latin typeface="Arial MT"/>
              <a:cs typeface="Arial MT"/>
            </a:endParaRPr>
          </a:p>
          <a:p>
            <a:pPr marL="1556385" marR="1442720" indent="155575">
              <a:lnSpc>
                <a:spcPct val="113900"/>
              </a:lnSpc>
            </a:pPr>
            <a:r>
              <a:rPr sz="1000" spc="-540" dirty="0">
                <a:solidFill>
                  <a:srgbClr val="FFFFFF"/>
                </a:solidFill>
                <a:latin typeface="Arial MT"/>
                <a:cs typeface="Arial MT"/>
              </a:rPr>
              <a:t>↓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 Step</a:t>
            </a:r>
            <a:r>
              <a:rPr sz="10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  <a:p>
            <a:pPr marL="641350">
              <a:lnSpc>
                <a:spcPct val="100000"/>
              </a:lnSpc>
              <a:spcBef>
                <a:spcPts val="17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Preprocess</a:t>
            </a:r>
            <a:r>
              <a:rPr sz="100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multimedia</a:t>
            </a:r>
            <a:r>
              <a:rPr sz="100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00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OpenCV</a:t>
            </a:r>
            <a:endParaRPr sz="1000">
              <a:latin typeface="Arial MT"/>
              <a:cs typeface="Arial MT"/>
            </a:endParaRPr>
          </a:p>
          <a:p>
            <a:pPr marL="1556385" marR="1442720" indent="155575">
              <a:lnSpc>
                <a:spcPct val="113900"/>
              </a:lnSpc>
            </a:pPr>
            <a:r>
              <a:rPr sz="1000" spc="-540" dirty="0">
                <a:solidFill>
                  <a:srgbClr val="FFFFFF"/>
                </a:solidFill>
                <a:latin typeface="Arial MT"/>
                <a:cs typeface="Arial MT"/>
              </a:rPr>
              <a:t>↓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 Step</a:t>
            </a:r>
            <a:r>
              <a:rPr sz="10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1000">
              <a:latin typeface="Arial MT"/>
              <a:cs typeface="Arial MT"/>
            </a:endParaRPr>
          </a:p>
          <a:p>
            <a:pPr marL="626745">
              <a:lnSpc>
                <a:spcPct val="100000"/>
              </a:lnSpc>
              <a:spcBef>
                <a:spcPts val="165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Extract</a:t>
            </a:r>
            <a:r>
              <a:rPr sz="10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forensic</a:t>
            </a:r>
            <a:r>
              <a:rPr sz="10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0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metadata</a:t>
            </a:r>
            <a:r>
              <a:rPr sz="10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endParaRPr sz="1000">
              <a:latin typeface="Arial MT"/>
              <a:cs typeface="Arial MT"/>
            </a:endParaRPr>
          </a:p>
          <a:p>
            <a:pPr marL="1556385" marR="1442720" indent="155575">
              <a:lnSpc>
                <a:spcPct val="113900"/>
              </a:lnSpc>
            </a:pPr>
            <a:r>
              <a:rPr sz="1000" spc="-540" dirty="0">
                <a:solidFill>
                  <a:srgbClr val="FFFFFF"/>
                </a:solidFill>
                <a:latin typeface="Arial MT"/>
                <a:cs typeface="Arial MT"/>
              </a:rPr>
              <a:t>↓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 Step</a:t>
            </a:r>
            <a:r>
              <a:rPr sz="10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1000">
              <a:latin typeface="Arial MT"/>
              <a:cs typeface="Arial MT"/>
            </a:endParaRPr>
          </a:p>
          <a:p>
            <a:pPr marL="923290">
              <a:lnSpc>
                <a:spcPct val="100000"/>
              </a:lnSpc>
              <a:spcBef>
                <a:spcPts val="165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Train</a:t>
            </a:r>
            <a:r>
              <a:rPr sz="10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Deep</a:t>
            </a:r>
            <a:r>
              <a:rPr sz="10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Learning</a:t>
            </a:r>
            <a:r>
              <a:rPr sz="10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models</a:t>
            </a:r>
            <a:endParaRPr sz="1000">
              <a:latin typeface="Arial MT"/>
              <a:cs typeface="Arial MT"/>
            </a:endParaRPr>
          </a:p>
          <a:p>
            <a:pPr marL="1556385" marR="1442720" indent="155575">
              <a:lnSpc>
                <a:spcPct val="113900"/>
              </a:lnSpc>
            </a:pPr>
            <a:r>
              <a:rPr sz="1000" spc="-540" dirty="0">
                <a:solidFill>
                  <a:srgbClr val="FFFFFF"/>
                </a:solidFill>
                <a:latin typeface="Arial MT"/>
                <a:cs typeface="Arial MT"/>
              </a:rPr>
              <a:t>↓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 Step</a:t>
            </a:r>
            <a:r>
              <a:rPr sz="10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1000">
              <a:latin typeface="Arial MT"/>
              <a:cs typeface="Arial MT"/>
            </a:endParaRPr>
          </a:p>
          <a:p>
            <a:pPr marL="880110">
              <a:lnSpc>
                <a:spcPct val="100000"/>
              </a:lnSpc>
              <a:spcBef>
                <a:spcPts val="17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Perform</a:t>
            </a:r>
            <a:r>
              <a:rPr sz="10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multimodal</a:t>
            </a:r>
            <a:r>
              <a:rPr sz="100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prediction</a:t>
            </a:r>
            <a:endParaRPr sz="1000">
              <a:latin typeface="Arial MT"/>
              <a:cs typeface="Arial MT"/>
            </a:endParaRPr>
          </a:p>
          <a:p>
            <a:pPr marL="1556385" marR="1442720" indent="155575">
              <a:lnSpc>
                <a:spcPct val="113900"/>
              </a:lnSpc>
            </a:pPr>
            <a:r>
              <a:rPr sz="1000" spc="-540" dirty="0">
                <a:solidFill>
                  <a:srgbClr val="FFFFFF"/>
                </a:solidFill>
                <a:latin typeface="Arial MT"/>
                <a:cs typeface="Arial MT"/>
              </a:rPr>
              <a:t>↓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 Step</a:t>
            </a:r>
            <a:r>
              <a:rPr sz="10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endParaRPr sz="1000">
              <a:latin typeface="Arial MT"/>
              <a:cs typeface="Arial MT"/>
            </a:endParaRPr>
          </a:p>
          <a:p>
            <a:pPr marL="963294">
              <a:lnSpc>
                <a:spcPct val="100000"/>
              </a:lnSpc>
              <a:spcBef>
                <a:spcPts val="165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Generate</a:t>
            </a:r>
            <a:r>
              <a:rPr sz="1000" spc="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confidence</a:t>
            </a:r>
            <a:r>
              <a:rPr sz="1000" spc="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score</a:t>
            </a:r>
            <a:endParaRPr sz="1000">
              <a:latin typeface="Arial MT"/>
              <a:cs typeface="Arial MT"/>
            </a:endParaRPr>
          </a:p>
          <a:p>
            <a:pPr marL="1556385" marR="1442720" indent="155575">
              <a:lnSpc>
                <a:spcPct val="113900"/>
              </a:lnSpc>
            </a:pPr>
            <a:r>
              <a:rPr sz="1000" spc="-540" dirty="0">
                <a:solidFill>
                  <a:srgbClr val="FFFFFF"/>
                </a:solidFill>
                <a:latin typeface="Arial MT"/>
                <a:cs typeface="Arial MT"/>
              </a:rPr>
              <a:t>↓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 Step</a:t>
            </a:r>
            <a:r>
              <a:rPr sz="10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MT"/>
                <a:cs typeface="Arial MT"/>
              </a:rPr>
              <a:t>7</a:t>
            </a:r>
            <a:endParaRPr sz="1000">
              <a:latin typeface="Arial MT"/>
              <a:cs typeface="Arial MT"/>
            </a:endParaRPr>
          </a:p>
          <a:p>
            <a:pPr marL="876300">
              <a:lnSpc>
                <a:spcPct val="100000"/>
              </a:lnSpc>
              <a:spcBef>
                <a:spcPts val="17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Display</a:t>
            </a:r>
            <a:r>
              <a:rPr sz="10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verification</a:t>
            </a:r>
            <a:r>
              <a:rPr sz="10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dashboard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836" y="845839"/>
            <a:ext cx="3181349" cy="39814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341" y="814089"/>
            <a:ext cx="1409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650" dirty="0">
                <a:latin typeface="Arial MT"/>
                <a:cs typeface="Arial MT"/>
              </a:rPr>
              <a:t>●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24399" y="132569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24399" y="212579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24399" y="265919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24399" y="345929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29896" y="702503"/>
            <a:ext cx="2874645" cy="341757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500" b="1" spc="-10" dirty="0">
                <a:solidFill>
                  <a:srgbClr val="CCF611"/>
                </a:solidFill>
                <a:latin typeface="Arial"/>
                <a:cs typeface="Arial"/>
              </a:rPr>
              <a:t>Viability</a:t>
            </a:r>
            <a:endParaRPr sz="1500">
              <a:latin typeface="Arial"/>
              <a:cs typeface="Arial"/>
            </a:endParaRPr>
          </a:p>
          <a:p>
            <a:pPr marL="65405" marR="110489" algn="just">
              <a:lnSpc>
                <a:spcPct val="116700"/>
              </a:lnSpc>
              <a:spcBef>
                <a:spcPts val="755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Addresses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growing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need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digital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media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authentication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deepfake</a:t>
            </a:r>
            <a:r>
              <a:rPr sz="15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detection.</a:t>
            </a:r>
            <a:endParaRPr sz="1500">
              <a:latin typeface="Arial MT"/>
              <a:cs typeface="Arial MT"/>
            </a:endParaRPr>
          </a:p>
          <a:p>
            <a:pPr marL="65405" marR="280035">
              <a:lnSpc>
                <a:spcPct val="116700"/>
              </a:lnSpc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Helps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prevent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misinformation,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fraud,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identity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misuse.</a:t>
            </a:r>
            <a:endParaRPr sz="1500">
              <a:latin typeface="Arial MT"/>
              <a:cs typeface="Arial MT"/>
            </a:endParaRPr>
          </a:p>
          <a:p>
            <a:pPr marL="65405" marR="5080">
              <a:lnSpc>
                <a:spcPct val="116700"/>
              </a:lnSpc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Applicable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cybersecurity,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journalism,</a:t>
            </a:r>
            <a:r>
              <a:rPr sz="15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law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enforcement,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enterprises.</a:t>
            </a:r>
            <a:endParaRPr sz="1500">
              <a:latin typeface="Arial MT"/>
              <a:cs typeface="Arial MT"/>
            </a:endParaRPr>
          </a:p>
          <a:p>
            <a:pPr marL="65405" marR="163195">
              <a:lnSpc>
                <a:spcPct val="116700"/>
              </a:lnSpc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Provides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scalable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solution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secure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trustworthy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digital communication.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41" y="814089"/>
            <a:ext cx="1409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650" dirty="0">
                <a:latin typeface="Arial MT"/>
                <a:cs typeface="Arial MT"/>
              </a:rPr>
              <a:t>●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1650" y="914699"/>
            <a:ext cx="343979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0" spc="67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2000" b="0" spc="434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750" b="0" dirty="0">
                <a:solidFill>
                  <a:srgbClr val="FFFFFF"/>
                </a:solidFill>
                <a:latin typeface="Arial MT"/>
                <a:cs typeface="Arial MT"/>
              </a:rPr>
              <a:t>AI-generated</a:t>
            </a:r>
            <a:r>
              <a:rPr sz="1750" b="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b="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750" b="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b="0" spc="-10" dirty="0">
                <a:solidFill>
                  <a:srgbClr val="FFFFFF"/>
                </a:solidFill>
                <a:latin typeface="Arial MT"/>
                <a:cs typeface="Arial MT"/>
              </a:rPr>
              <a:t>Detection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1650" y="1230362"/>
            <a:ext cx="3063875" cy="159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67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2000" spc="-9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DeepFake</a:t>
            </a:r>
            <a:r>
              <a:rPr sz="17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Video</a:t>
            </a:r>
            <a:r>
              <a:rPr sz="17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Arial MT"/>
                <a:cs typeface="Arial MT"/>
              </a:rPr>
              <a:t>Detection</a:t>
            </a:r>
            <a:endParaRPr sz="17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000" spc="67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2000" spc="-9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Synthetic</a:t>
            </a:r>
            <a:r>
              <a:rPr sz="17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Voice</a:t>
            </a:r>
            <a:r>
              <a:rPr sz="17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Arial MT"/>
                <a:cs typeface="Arial MT"/>
              </a:rPr>
              <a:t>Detection</a:t>
            </a:r>
            <a:endParaRPr sz="17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000" spc="67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2000" spc="-100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Metadata</a:t>
            </a:r>
            <a:r>
              <a:rPr sz="17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Arial MT"/>
                <a:cs typeface="Arial MT"/>
              </a:rPr>
              <a:t>Verification</a:t>
            </a:r>
            <a:endParaRPr sz="17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000" spc="67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2000" spc="-100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Error</a:t>
            </a:r>
            <a:r>
              <a:rPr sz="17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sz="17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17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Arial MT"/>
                <a:cs typeface="Arial MT"/>
              </a:rPr>
              <a:t>(ELA)</a:t>
            </a:r>
            <a:endParaRPr sz="17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000" spc="67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2000" spc="-10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7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Noise</a:t>
            </a:r>
            <a:r>
              <a:rPr sz="17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175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6325" y="919015"/>
            <a:ext cx="3492500" cy="19685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00" spc="69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2100" spc="-14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Confidence</a:t>
            </a:r>
            <a:r>
              <a:rPr sz="18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Score</a:t>
            </a:r>
            <a:r>
              <a:rPr sz="18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Generation</a:t>
            </a:r>
            <a:endParaRPr sz="1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100" spc="69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2100" spc="-14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Explainable</a:t>
            </a:r>
            <a:r>
              <a:rPr sz="18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sz="18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Report</a:t>
            </a:r>
            <a:endParaRPr sz="1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100" spc="69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2100" spc="-140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User-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friendly</a:t>
            </a:r>
            <a:r>
              <a:rPr sz="18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Dashboard</a:t>
            </a:r>
            <a:endParaRPr sz="1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100" spc="69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2100" spc="-140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Cloud-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based REST </a:t>
            </a:r>
            <a:r>
              <a:rPr sz="1850" spc="-25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endParaRPr sz="1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100" spc="69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2100" spc="-14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Secure</a:t>
            </a:r>
            <a:r>
              <a:rPr sz="18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File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 Upload</a:t>
            </a:r>
            <a:endParaRPr sz="1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100" spc="69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2100" spc="-13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Real-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18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Verification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209550"/>
            <a:ext cx="609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 smtClean="0">
                <a:solidFill>
                  <a:srgbClr val="FF0066"/>
                </a:solidFill>
                <a:latin typeface="Stencil" pitchFamily="82" charset="0"/>
              </a:rPr>
              <a:t>Methodology</a:t>
            </a:r>
            <a:endParaRPr lang="en-IN" sz="3600" dirty="0">
              <a:solidFill>
                <a:srgbClr val="FF0066"/>
              </a:solidFill>
              <a:latin typeface="Stencil" pitchFamily="8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3177" y="892535"/>
            <a:ext cx="5600699" cy="37337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341" y="814089"/>
            <a:ext cx="1409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Microsoft Sans Serif"/>
                <a:cs typeface="Microsoft Sans Serif"/>
              </a:rPr>
              <a:t>●</a:t>
            </a:r>
            <a:endParaRPr sz="1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1003" y="814089"/>
            <a:ext cx="639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CCF611"/>
                </a:solidFill>
                <a:latin typeface="Arial"/>
                <a:cs typeface="Arial"/>
              </a:rPr>
              <a:t>Impact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5343" y="1331474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59" h="60959">
                <a:moveTo>
                  <a:pt x="34326" y="60615"/>
                </a:moveTo>
                <a:lnTo>
                  <a:pt x="26288" y="60615"/>
                </a:lnTo>
                <a:lnTo>
                  <a:pt x="22422" y="59846"/>
                </a:lnTo>
                <a:lnTo>
                  <a:pt x="0" y="34326"/>
                </a:lnTo>
                <a:lnTo>
                  <a:pt x="0" y="26288"/>
                </a:lnTo>
                <a:lnTo>
                  <a:pt x="26288" y="0"/>
                </a:lnTo>
                <a:lnTo>
                  <a:pt x="34326" y="0"/>
                </a:lnTo>
                <a:lnTo>
                  <a:pt x="60615" y="30307"/>
                </a:lnTo>
                <a:lnTo>
                  <a:pt x="60615" y="34326"/>
                </a:lnTo>
                <a:lnTo>
                  <a:pt x="34326" y="60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5343" y="1614346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34326" y="60615"/>
                </a:moveTo>
                <a:lnTo>
                  <a:pt x="26288" y="60615"/>
                </a:lnTo>
                <a:lnTo>
                  <a:pt x="22422" y="59846"/>
                </a:lnTo>
                <a:lnTo>
                  <a:pt x="0" y="34326"/>
                </a:lnTo>
                <a:lnTo>
                  <a:pt x="0" y="26288"/>
                </a:lnTo>
                <a:lnTo>
                  <a:pt x="26288" y="0"/>
                </a:lnTo>
                <a:lnTo>
                  <a:pt x="34326" y="0"/>
                </a:lnTo>
                <a:lnTo>
                  <a:pt x="60615" y="30307"/>
                </a:lnTo>
                <a:lnTo>
                  <a:pt x="60615" y="34326"/>
                </a:lnTo>
                <a:lnTo>
                  <a:pt x="34326" y="60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5343" y="1897217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34326" y="60615"/>
                </a:moveTo>
                <a:lnTo>
                  <a:pt x="26288" y="60615"/>
                </a:lnTo>
                <a:lnTo>
                  <a:pt x="22422" y="59846"/>
                </a:lnTo>
                <a:lnTo>
                  <a:pt x="0" y="34326"/>
                </a:lnTo>
                <a:lnTo>
                  <a:pt x="0" y="26288"/>
                </a:lnTo>
                <a:lnTo>
                  <a:pt x="26288" y="0"/>
                </a:lnTo>
                <a:lnTo>
                  <a:pt x="34326" y="0"/>
                </a:lnTo>
                <a:lnTo>
                  <a:pt x="60615" y="30307"/>
                </a:lnTo>
                <a:lnTo>
                  <a:pt x="60615" y="34326"/>
                </a:lnTo>
                <a:lnTo>
                  <a:pt x="34326" y="60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5343" y="2180089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34326" y="60615"/>
                </a:moveTo>
                <a:lnTo>
                  <a:pt x="26288" y="60615"/>
                </a:lnTo>
                <a:lnTo>
                  <a:pt x="22422" y="59846"/>
                </a:lnTo>
                <a:lnTo>
                  <a:pt x="0" y="34326"/>
                </a:lnTo>
                <a:lnTo>
                  <a:pt x="0" y="26288"/>
                </a:lnTo>
                <a:lnTo>
                  <a:pt x="26288" y="0"/>
                </a:lnTo>
                <a:lnTo>
                  <a:pt x="34326" y="0"/>
                </a:lnTo>
                <a:lnTo>
                  <a:pt x="60615" y="30307"/>
                </a:lnTo>
                <a:lnTo>
                  <a:pt x="60615" y="34326"/>
                </a:lnTo>
                <a:lnTo>
                  <a:pt x="34326" y="60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5343" y="2462961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34326" y="60615"/>
                </a:moveTo>
                <a:lnTo>
                  <a:pt x="26288" y="60615"/>
                </a:lnTo>
                <a:lnTo>
                  <a:pt x="22422" y="59846"/>
                </a:lnTo>
                <a:lnTo>
                  <a:pt x="0" y="34326"/>
                </a:lnTo>
                <a:lnTo>
                  <a:pt x="0" y="26288"/>
                </a:lnTo>
                <a:lnTo>
                  <a:pt x="26288" y="0"/>
                </a:lnTo>
                <a:lnTo>
                  <a:pt x="34326" y="0"/>
                </a:lnTo>
                <a:lnTo>
                  <a:pt x="60615" y="30307"/>
                </a:lnTo>
                <a:lnTo>
                  <a:pt x="60615" y="34326"/>
                </a:lnTo>
                <a:lnTo>
                  <a:pt x="34326" y="60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74490" y="1157133"/>
            <a:ext cx="3462020" cy="144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06500">
              <a:lnSpc>
                <a:spcPct val="115999"/>
              </a:lnSpc>
              <a:spcBef>
                <a:spcPts val="100"/>
              </a:spcBef>
            </a:pPr>
            <a:r>
              <a:rPr sz="1600" b="0" dirty="0">
                <a:solidFill>
                  <a:schemeClr val="bg1"/>
                </a:solidFill>
                <a:latin typeface="Arial MT"/>
                <a:cs typeface="Arial MT"/>
              </a:rPr>
              <a:t>Reduce</a:t>
            </a:r>
            <a:r>
              <a:rPr sz="1600" b="0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00" b="0" spc="-10" dirty="0">
                <a:solidFill>
                  <a:schemeClr val="bg1"/>
                </a:solidFill>
                <a:latin typeface="Arial MT"/>
                <a:cs typeface="Arial MT"/>
              </a:rPr>
              <a:t>misinformation </a:t>
            </a:r>
            <a:r>
              <a:rPr sz="1600" b="0" dirty="0">
                <a:solidFill>
                  <a:schemeClr val="bg1"/>
                </a:solidFill>
                <a:latin typeface="Arial MT"/>
                <a:cs typeface="Arial MT"/>
              </a:rPr>
              <a:t>Increase</a:t>
            </a:r>
            <a:r>
              <a:rPr sz="1600" b="0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00" b="0" dirty="0">
                <a:solidFill>
                  <a:schemeClr val="bg1"/>
                </a:solidFill>
                <a:latin typeface="Arial MT"/>
                <a:cs typeface="Arial MT"/>
              </a:rPr>
              <a:t>digital</a:t>
            </a:r>
            <a:r>
              <a:rPr sz="1600" b="0" spc="-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00" b="0" spc="-10" dirty="0">
                <a:solidFill>
                  <a:schemeClr val="bg1"/>
                </a:solidFill>
                <a:latin typeface="Arial MT"/>
                <a:cs typeface="Arial MT"/>
              </a:rPr>
              <a:t>trust </a:t>
            </a:r>
            <a:r>
              <a:rPr sz="1600" b="0" dirty="0">
                <a:solidFill>
                  <a:schemeClr val="bg1"/>
                </a:solidFill>
                <a:latin typeface="Arial MT"/>
                <a:cs typeface="Arial MT"/>
              </a:rPr>
              <a:t>Strengthen</a:t>
            </a:r>
            <a:r>
              <a:rPr sz="1600" b="0" spc="-8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00" b="0" spc="-10" dirty="0">
                <a:solidFill>
                  <a:schemeClr val="bg1"/>
                </a:solidFill>
                <a:latin typeface="Arial MT"/>
                <a:cs typeface="Arial MT"/>
              </a:rPr>
              <a:t>cybersecurity</a:t>
            </a:r>
            <a:endParaRPr sz="16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15999"/>
              </a:lnSpc>
            </a:pPr>
            <a:r>
              <a:rPr sz="1600" b="0" dirty="0">
                <a:solidFill>
                  <a:schemeClr val="bg1"/>
                </a:solidFill>
                <a:latin typeface="Arial MT"/>
                <a:cs typeface="Arial MT"/>
              </a:rPr>
              <a:t>Assist</a:t>
            </a:r>
            <a:r>
              <a:rPr sz="1600" b="0" spc="-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00" b="0" dirty="0">
                <a:solidFill>
                  <a:schemeClr val="bg1"/>
                </a:solidFill>
                <a:latin typeface="Arial MT"/>
                <a:cs typeface="Arial MT"/>
              </a:rPr>
              <a:t>journalists</a:t>
            </a:r>
            <a:r>
              <a:rPr sz="1600" b="0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00" b="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1600" b="0" spc="-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00" b="0" spc="-10" dirty="0">
                <a:solidFill>
                  <a:schemeClr val="bg1"/>
                </a:solidFill>
                <a:latin typeface="Arial MT"/>
                <a:cs typeface="Arial MT"/>
              </a:rPr>
              <a:t>investigators </a:t>
            </a:r>
            <a:r>
              <a:rPr sz="1600" b="0" dirty="0">
                <a:solidFill>
                  <a:schemeClr val="bg1"/>
                </a:solidFill>
                <a:latin typeface="Arial MT"/>
                <a:cs typeface="Arial MT"/>
              </a:rPr>
              <a:t>Improve</a:t>
            </a:r>
            <a:r>
              <a:rPr sz="1600" b="0" spc="-7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00" b="0" dirty="0">
                <a:solidFill>
                  <a:schemeClr val="bg1"/>
                </a:solidFill>
                <a:latin typeface="Arial MT"/>
                <a:cs typeface="Arial MT"/>
              </a:rPr>
              <a:t>media</a:t>
            </a:r>
            <a:r>
              <a:rPr sz="1600" b="0" spc="-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00" b="0" dirty="0">
                <a:solidFill>
                  <a:schemeClr val="bg1"/>
                </a:solidFill>
                <a:latin typeface="Arial MT"/>
                <a:cs typeface="Arial MT"/>
              </a:rPr>
              <a:t>authenticity</a:t>
            </a:r>
            <a:r>
              <a:rPr sz="1600" b="0" spc="-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00" b="0" spc="-10" dirty="0">
                <a:solidFill>
                  <a:schemeClr val="bg1"/>
                </a:solidFill>
                <a:latin typeface="Arial MT"/>
                <a:cs typeface="Arial MT"/>
              </a:rPr>
              <a:t>verification</a:t>
            </a:r>
            <a:endParaRPr sz="16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5343" y="2745832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34326" y="60615"/>
                </a:moveTo>
                <a:lnTo>
                  <a:pt x="26288" y="60615"/>
                </a:lnTo>
                <a:lnTo>
                  <a:pt x="22422" y="59846"/>
                </a:lnTo>
                <a:lnTo>
                  <a:pt x="0" y="34326"/>
                </a:lnTo>
                <a:lnTo>
                  <a:pt x="0" y="26288"/>
                </a:lnTo>
                <a:lnTo>
                  <a:pt x="26288" y="0"/>
                </a:lnTo>
                <a:lnTo>
                  <a:pt x="34326" y="0"/>
                </a:lnTo>
                <a:lnTo>
                  <a:pt x="60615" y="30307"/>
                </a:lnTo>
                <a:lnTo>
                  <a:pt x="60615" y="34326"/>
                </a:lnTo>
                <a:lnTo>
                  <a:pt x="34326" y="60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6749" y="351591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6749" y="378261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6749" y="404931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70017" y="2611901"/>
            <a:ext cx="6856095" cy="1564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90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Support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governments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organizations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combating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generated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fraud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500" b="1" spc="-10" dirty="0">
                <a:solidFill>
                  <a:srgbClr val="CCF611"/>
                </a:solidFill>
                <a:latin typeface="Arial"/>
                <a:cs typeface="Arial"/>
              </a:rPr>
              <a:t>Benefits</a:t>
            </a:r>
            <a:endParaRPr sz="1500">
              <a:latin typeface="Arial"/>
              <a:cs typeface="Arial"/>
            </a:endParaRPr>
          </a:p>
          <a:p>
            <a:pPr marL="367665" marR="1619250">
              <a:lnSpc>
                <a:spcPct val="116700"/>
              </a:lnSpc>
              <a:spcBef>
                <a:spcPts val="90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Provides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fast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accurate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media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authenticity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verification.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Protects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users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organizations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identity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misuse.</a:t>
            </a:r>
            <a:endParaRPr sz="1500">
              <a:latin typeface="Arial MT"/>
              <a:cs typeface="Arial MT"/>
            </a:endParaRPr>
          </a:p>
          <a:p>
            <a:pPr marL="367665">
              <a:lnSpc>
                <a:spcPct val="100000"/>
              </a:lnSpc>
              <a:spcBef>
                <a:spcPts val="30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Enables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reliable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secure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digital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communication.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6128" y="207316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96128" y="22827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6128" y="249226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6128" y="27018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6128" y="291136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6128" y="31209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96128" y="333046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6128" y="35400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128" y="374956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6128" y="39591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7341" y="814089"/>
            <a:ext cx="8583295" cy="3245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434705" algn="ctr">
              <a:lnSpc>
                <a:spcPct val="100000"/>
              </a:lnSpc>
              <a:spcBef>
                <a:spcPts val="100"/>
              </a:spcBef>
            </a:pPr>
            <a:r>
              <a:rPr sz="1500" spc="-650" dirty="0">
                <a:latin typeface="Arial MT"/>
                <a:cs typeface="Arial MT"/>
              </a:rPr>
              <a:t>●</a:t>
            </a:r>
            <a:endParaRPr sz="1500" dirty="0">
              <a:latin typeface="Arial MT"/>
              <a:cs typeface="Arial MT"/>
            </a:endParaRPr>
          </a:p>
          <a:p>
            <a:pPr marL="612140" algn="ctr">
              <a:lnSpc>
                <a:spcPct val="100000"/>
              </a:lnSpc>
              <a:spcBef>
                <a:spcPts val="35"/>
              </a:spcBef>
            </a:pP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idea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3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inspired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growing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misuse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Generative</a:t>
            </a:r>
            <a:r>
              <a:rPr sz="13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technologies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increasing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need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3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reliable</a:t>
            </a:r>
            <a:endParaRPr sz="1300" dirty="0">
              <a:latin typeface="Arial MT"/>
              <a:cs typeface="Arial MT"/>
            </a:endParaRPr>
          </a:p>
          <a:p>
            <a:pPr marL="611505" algn="ctr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digital</a:t>
            </a:r>
            <a:r>
              <a:rPr sz="13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media</a:t>
            </a:r>
            <a:r>
              <a:rPr sz="13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verification</a:t>
            </a:r>
            <a:endParaRPr sz="1300" dirty="0">
              <a:latin typeface="Arial MT"/>
              <a:cs typeface="Arial MT"/>
            </a:endParaRPr>
          </a:p>
          <a:p>
            <a:pPr marL="612140" algn="ctr">
              <a:lnSpc>
                <a:spcPct val="100000"/>
              </a:lnSpc>
              <a:spcBef>
                <a:spcPts val="240"/>
              </a:spcBef>
            </a:pPr>
            <a:r>
              <a:rPr sz="1300" spc="-5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endParaRPr sz="1300" dirty="0">
              <a:latin typeface="Arial MT"/>
              <a:cs typeface="Arial MT"/>
            </a:endParaRPr>
          </a:p>
          <a:p>
            <a:pPr marL="594360">
              <a:lnSpc>
                <a:spcPct val="100000"/>
              </a:lnSpc>
              <a:spcBef>
                <a:spcPts val="140"/>
              </a:spcBef>
            </a:pPr>
            <a:r>
              <a:rPr sz="1400" b="1" dirty="0">
                <a:solidFill>
                  <a:srgbClr val="CCF611"/>
                </a:solidFill>
                <a:latin typeface="Arial"/>
                <a:cs typeface="Arial"/>
              </a:rPr>
              <a:t>Research</a:t>
            </a:r>
            <a:r>
              <a:rPr sz="1400" b="1" spc="90" dirty="0">
                <a:solidFill>
                  <a:srgbClr val="CCF6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CCF611"/>
                </a:solidFill>
                <a:latin typeface="Arial"/>
                <a:cs typeface="Arial"/>
              </a:rPr>
              <a:t>Sources</a:t>
            </a:r>
            <a:endParaRPr sz="1400" dirty="0">
              <a:latin typeface="Arial"/>
              <a:cs typeface="Arial"/>
            </a:endParaRPr>
          </a:p>
          <a:p>
            <a:pPr marL="853440" marR="4265295">
              <a:lnSpc>
                <a:spcPct val="114599"/>
              </a:lnSpc>
              <a:spcBef>
                <a:spcPts val="35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Google DeepMind research on AI-generated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media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OpenAI research on Generative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1200" dirty="0">
              <a:latin typeface="Arial MT"/>
              <a:cs typeface="Arial MT"/>
            </a:endParaRPr>
          </a:p>
          <a:p>
            <a:pPr marL="853440" marR="5036185">
              <a:lnSpc>
                <a:spcPct val="114599"/>
              </a:lnSpc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Meta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DeepFake Detection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Challenge FaceForensics++</a:t>
            </a:r>
            <a:endParaRPr sz="1200" dirty="0">
              <a:latin typeface="Arial MT"/>
              <a:cs typeface="Arial MT"/>
            </a:endParaRPr>
          </a:p>
          <a:p>
            <a:pPr marL="853440" marR="5036820">
              <a:lnSpc>
                <a:spcPct val="114599"/>
              </a:lnSpc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DeepFake Detection Challenge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(DFDC)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Kaggle DeepFake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datasets</a:t>
            </a:r>
            <a:endParaRPr sz="1200" dirty="0">
              <a:latin typeface="Arial MT"/>
              <a:cs typeface="Arial MT"/>
            </a:endParaRPr>
          </a:p>
          <a:p>
            <a:pPr marL="853440" marR="6154420">
              <a:lnSpc>
                <a:spcPct val="114599"/>
              </a:lnSpc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IEEE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Papers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ACM Digital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Library</a:t>
            </a:r>
            <a:endParaRPr sz="1200" dirty="0">
              <a:latin typeface="Arial MT"/>
              <a:cs typeface="Arial MT"/>
            </a:endParaRPr>
          </a:p>
          <a:p>
            <a:pPr marL="853440" marR="4732020">
              <a:lnSpc>
                <a:spcPct val="114599"/>
              </a:lnSpc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CVPR &amp; ICCV Computer Vision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publications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Cybersecurity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reports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NIST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CISA</a:t>
            </a:r>
            <a:endParaRPr sz="1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0" y="2647950"/>
            <a:ext cx="9144000" cy="2530718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0F030"/>
                </a:solidFill>
                <a:latin typeface="Arial" pitchFamily="34" charset="0"/>
                <a:cs typeface="Arial" pitchFamily="34" charset="0"/>
              </a:rPr>
              <a:t>TEAM MEMBERS DETAILS</a:t>
            </a:r>
            <a:r>
              <a:rPr lang="en-US" b="1" dirty="0" smtClean="0">
                <a:solidFill>
                  <a:srgbClr val="B0F030"/>
                </a:solidFill>
                <a:latin typeface="Arial" pitchFamily="34" charset="0"/>
                <a:cs typeface="Arial" pitchFamily="34" charset="0"/>
              </a:rPr>
              <a:t>:- </a:t>
            </a:r>
            <a:r>
              <a:rPr lang="en-US" sz="2000" b="1" dirty="0" smtClean="0">
                <a:solidFill>
                  <a:srgbClr val="B0F030"/>
                </a:solidFill>
                <a:latin typeface="Arial" pitchFamily="34" charset="0"/>
                <a:cs typeface="Arial" pitchFamily="34" charset="0"/>
              </a:rPr>
              <a:t>CODING </a:t>
            </a:r>
            <a:r>
              <a:rPr lang="en-US" sz="2000" b="1" dirty="0" smtClean="0">
                <a:solidFill>
                  <a:srgbClr val="B0F030"/>
                </a:solidFill>
                <a:latin typeface="Arial" pitchFamily="34" charset="0"/>
                <a:cs typeface="Arial" pitchFamily="34" charset="0"/>
              </a:rPr>
              <a:t>DIVAS</a:t>
            </a:r>
          </a:p>
          <a:p>
            <a:r>
              <a:rPr lang="en-US" sz="2000" b="1" smtClean="0">
                <a:latin typeface="Arial" pitchFamily="34" charset="0"/>
                <a:cs typeface="Arial" pitchFamily="34" charset="0"/>
              </a:rPr>
              <a:t>Member </a:t>
            </a:r>
            <a:r>
              <a:rPr lang="en-US" sz="14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AADYA </a:t>
            </a:r>
            <a:r>
              <a:rPr lang="en-US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DIXIT</a:t>
            </a:r>
          </a:p>
          <a:p>
            <a:r>
              <a:rPr lang="en-US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  IMS ENGINEERING COLLEGE</a:t>
            </a:r>
          </a:p>
          <a:p>
            <a:r>
              <a:rPr lang="en-US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  9315808067   </a:t>
            </a:r>
            <a:r>
              <a:rPr lang="en-US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  <a:hlinkClick r:id="rId2"/>
              </a:rPr>
              <a:t>aadyadixit17@gmail.com</a:t>
            </a:r>
            <a:endParaRPr lang="en-US" sz="14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Member 2:  KHUSHBU </a:t>
            </a:r>
          </a:p>
          <a:p>
            <a:r>
              <a:rPr lang="en-US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  BABU BANARSI DAS INSTITUTE OF TECHNOLOGY</a:t>
            </a:r>
          </a:p>
          <a:p>
            <a:r>
              <a:rPr lang="en-US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  8368291701  </a:t>
            </a:r>
            <a:r>
              <a:rPr lang="en-US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  <a:hlinkClick r:id="rId3"/>
              </a:rPr>
              <a:t>sengarhemlata5@gmail.com</a:t>
            </a:r>
            <a:endParaRPr lang="en-US" sz="14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en-IN" b="1" dirty="0">
              <a:solidFill>
                <a:srgbClr val="B0F03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2647950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br>
              <a:rPr lang="en-US" dirty="0" smtClean="0"/>
            </a:br>
            <a:r>
              <a:rPr lang="en-US" sz="3100" dirty="0"/>
              <a:t/>
            </a:r>
            <a:br>
              <a:rPr lang="en-US" sz="3100" dirty="0"/>
            </a:br>
            <a:r>
              <a:rPr lang="en-US" sz="3100" u="sng" dirty="0" smtClean="0">
                <a:solidFill>
                  <a:schemeClr val="bg1"/>
                </a:solidFill>
              </a:rPr>
              <a:t>LINKS:</a:t>
            </a:r>
            <a:r>
              <a:rPr lang="en-US" sz="3100" u="sng" dirty="0" smtClean="0">
                <a:solidFill>
                  <a:schemeClr val="bg1"/>
                </a:solidFill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400" dirty="0" smtClean="0">
                <a:solidFill>
                  <a:schemeClr val="bg1"/>
                </a:solidFill>
              </a:rPr>
              <a:t>📄 </a:t>
            </a:r>
            <a:r>
              <a:rPr lang="en-US" sz="1400" dirty="0">
                <a:solidFill>
                  <a:schemeClr val="bg1"/>
                </a:solidFill>
              </a:rPr>
              <a:t>Project Documentation Link: </a:t>
            </a:r>
            <a:r>
              <a:rPr lang="en-US" sz="1400" dirty="0">
                <a:hlinkClick r:id="rId4"/>
              </a:rPr>
              <a:t>https://drive.google.com/file/d/1nSnvlPRMiSRlkxZHVSOFoifYg4Jv3yrp/view?usp=drivesdk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400" dirty="0" smtClean="0">
                <a:solidFill>
                  <a:schemeClr val="bg1"/>
                </a:solidFill>
              </a:rPr>
              <a:t>💻 </a:t>
            </a:r>
            <a:r>
              <a:rPr lang="en-US" sz="1400" dirty="0" err="1">
                <a:solidFill>
                  <a:schemeClr val="bg1"/>
                </a:solidFill>
              </a:rPr>
              <a:t>GitHub</a:t>
            </a:r>
            <a:r>
              <a:rPr lang="en-US" sz="1400" dirty="0">
                <a:solidFill>
                  <a:schemeClr val="bg1"/>
                </a:solidFill>
              </a:rPr>
              <a:t> Repository Link: </a:t>
            </a:r>
            <a:r>
              <a:rPr lang="en-US" sz="1400" dirty="0" smtClean="0">
                <a:solidFill>
                  <a:schemeClr val="bg1"/>
                </a:solidFill>
              </a:rPr>
              <a:t>                                                                                          </a:t>
            </a:r>
            <a:r>
              <a:rPr lang="en-US" sz="1400" dirty="0" smtClean="0">
                <a:hlinkClick r:id="rId5"/>
              </a:rPr>
              <a:t>https</a:t>
            </a:r>
            <a:r>
              <a:rPr lang="en-US" sz="1400" dirty="0">
                <a:hlinkClick r:id="rId5"/>
              </a:rPr>
              <a:t>://github.com/aadyadixit17-code/DeepFake-Digital-Media-Authenticity-Verification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400" dirty="0" smtClean="0">
                <a:solidFill>
                  <a:schemeClr val="bg1"/>
                </a:solidFill>
              </a:rPr>
              <a:t>🌐 </a:t>
            </a:r>
            <a:r>
              <a:rPr lang="en-US" sz="1400" dirty="0">
                <a:solidFill>
                  <a:schemeClr val="bg1"/>
                </a:solidFill>
              </a:rPr>
              <a:t>Working Demo Link: </a:t>
            </a:r>
            <a:r>
              <a:rPr lang="en-US" sz="1400" dirty="0">
                <a:solidFill>
                  <a:schemeClr val="bg1"/>
                </a:solidFill>
                <a:hlinkClick r:id="rId6"/>
              </a:rPr>
              <a:t>https://drive.google.com/file/d/1SnKgiu5cUtlZSPIOw0iM5paNZ7tB_5Pi/view?usp=drivesdk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5707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70</TotalTime>
  <Words>462</Words>
  <Application>Microsoft Office PowerPoint</Application>
  <PresentationFormat>On-screen Show (16:9)</PresentationFormat>
  <Paragraphs>86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Concourse</vt:lpstr>
      <vt:lpstr> SGU X ROCKET RIDE HACKATHON </vt:lpstr>
      <vt:lpstr>DeepFake &amp; Digital Media Authenticity Verification Platform</vt:lpstr>
      <vt:lpstr>PowerPoint Presentation</vt:lpstr>
      <vt:lpstr> </vt:lpstr>
      <vt:lpstr>PowerPoint Presentation</vt:lpstr>
      <vt:lpstr>✔ AI-generated Image Detection</vt:lpstr>
      <vt:lpstr>PowerPoint Presentation</vt:lpstr>
      <vt:lpstr>Reduce misinformation Increase digital trust Strengthen cybersecurity Assist journalists and investigators Improve media authenticity verification</vt:lpstr>
      <vt:lpstr>PowerPoint Presentation</vt:lpstr>
      <vt:lpstr>   LINKS:  📄 Project Documentation Link: https://drive.google.com/file/d/1nSnvlPRMiSRlkxZHVSOFoifYg4Jv3yrp/view?usp=drivesdk 💻 GitHub Repository Link:                                                                                           https://github.com/aadyadixit17-code/DeepFake-Digital-Media-Authenticity-Verification 🌐 Working Demo Link: https://drive.google.com/file/d/1SnKgiu5cUtlZSPIOw0iM5paNZ7tB_5Pi/view?usp=drivesdk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DOC-20260803-WA0003..pdf</dc:title>
  <dc:creator>Kanak</dc:creator>
  <cp:keywords>DAHRONfsCEw,BAHHeSGo32Q</cp:keywords>
  <cp:lastModifiedBy>hp</cp:lastModifiedBy>
  <cp:revision>12</cp:revision>
  <dcterms:created xsi:type="dcterms:W3CDTF">2026-08-03T14:03:28Z</dcterms:created>
  <dcterms:modified xsi:type="dcterms:W3CDTF">2026-08-17T17:05:07Z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2026-08-03T00:00:00Z</vt:filetime>
  </property>
  <property fmtid="{D5CDD505-2E9C-101B-9397-08002B2CF9AE}" pid="4" name="Creator">
    <vt:lpwstr>Canva</vt:lpwstr>
  </property>
  <property fmtid="{D5CDD505-2E9C-101B-9397-08002B2CF9AE}" pid="5" name="LastSaved">
    <vt:filetime>2026-08-03T00:00:00Z</vt:filetime>
  </property>
  <property fmtid="{D5CDD505-2E9C-101B-9397-08002B2CF9AE}" pid="6" name="Producer">
    <vt:lpwstr>Canva</vt:lpwstr>
  </property>
</Properties>
</file>